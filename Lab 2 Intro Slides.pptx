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/>
    <p:restoredTop sz="94668"/>
  </p:normalViewPr>
  <p:slideViewPr>
    <p:cSldViewPr snapToGrid="0">
      <p:cViewPr varScale="1">
        <p:scale>
          <a:sx n="169" d="100"/>
          <a:sy n="169" d="100"/>
        </p:scale>
        <p:origin x="192" y="19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7d27cef36c_2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7d27cef36c_2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7d27cef36c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7d27cef36c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7d27cef36c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7d27cef36c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8a322246a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8a322246a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7d27cef36c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7d27cef36c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7d27cef36c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7d27cef36c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7d27cef36c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7d27cef36c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7d27cef36c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7d27cef36c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7d27cef36c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7d27cef36c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 u="sng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  <a:defRPr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○"/>
              <a:defRPr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■"/>
              <a:defRPr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  <a:defRPr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○"/>
              <a:defRPr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■"/>
              <a:defRPr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  <a:defRPr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○"/>
              <a:defRPr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■"/>
              <a:defRPr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Slide 4">
  <p:cSld name="Content Slide 4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ctrTitle"/>
          </p:nvPr>
        </p:nvSpPr>
        <p:spPr>
          <a:xfrm>
            <a:off x="628650" y="282575"/>
            <a:ext cx="8515500" cy="614400"/>
          </a:xfrm>
          <a:prstGeom prst="rect">
            <a:avLst/>
          </a:prstGeom>
          <a:solidFill>
            <a:srgbClr val="EAD1DC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subTitle" idx="1"/>
          </p:nvPr>
        </p:nvSpPr>
        <p:spPr>
          <a:xfrm>
            <a:off x="628650" y="1231900"/>
            <a:ext cx="7886700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501600" cy="27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athworks.com/help/images/understanding-color-spaces-and-color-space-conversion.html?searchHighlight=color+space&amp;s_tid=srchtitle_support_results_1_color+space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apidtables.com/convert/color/rgb-to-hsv.html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EECS 452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" name="Google Shape;61;p1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Lab 2: Object Tracking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This Week in EECS 452</a:t>
            </a:r>
            <a:endParaRPr dirty="0"/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Char char="-"/>
            </a:pPr>
            <a:r>
              <a:rPr lang="en" b="1" dirty="0">
                <a:solidFill>
                  <a:srgbClr val="FF0000"/>
                </a:solidFill>
              </a:rPr>
              <a:t>Submit Pre-Lab 2</a:t>
            </a:r>
            <a:endParaRPr b="1" dirty="0">
              <a:solidFill>
                <a:srgbClr val="FF0000"/>
              </a:solidFill>
            </a:endParaRPr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1800"/>
              <a:buChar char="-"/>
            </a:pPr>
            <a:r>
              <a:rPr lang="en" b="1" dirty="0">
                <a:solidFill>
                  <a:srgbClr val="FF0000"/>
                </a:solidFill>
              </a:rPr>
              <a:t>Due this Friday (9/18, 11:59pm)</a:t>
            </a:r>
            <a:r>
              <a:rPr lang="en" dirty="0">
                <a:solidFill>
                  <a:srgbClr val="FF0000"/>
                </a:solidFill>
              </a:rPr>
              <a:t>:</a:t>
            </a:r>
            <a:endParaRPr dirty="0">
              <a:solidFill>
                <a:srgbClr val="FF0000"/>
              </a:solidFill>
            </a:endParaRPr>
          </a:p>
          <a:p>
            <a:pPr marL="914400" lvl="1" indent="-317500" algn="l" rtl="0"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1400"/>
              <a:buChar char="-"/>
            </a:pPr>
            <a:r>
              <a:rPr lang="en" dirty="0">
                <a:solidFill>
                  <a:srgbClr val="FF0000"/>
                </a:solidFill>
              </a:rPr>
              <a:t>Lab 1 Report</a:t>
            </a:r>
            <a:endParaRPr dirty="0">
              <a:solidFill>
                <a:srgbClr val="FF0000"/>
              </a:solidFill>
            </a:endParaRPr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-"/>
            </a:pPr>
            <a:r>
              <a:rPr lang="en" b="1" dirty="0"/>
              <a:t>Start this Week</a:t>
            </a:r>
            <a:r>
              <a:rPr lang="en" dirty="0"/>
              <a:t>:</a:t>
            </a:r>
            <a:endParaRPr dirty="0"/>
          </a:p>
          <a:p>
            <a:pPr marL="914400" lvl="1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-"/>
            </a:pPr>
            <a:r>
              <a:rPr lang="en" dirty="0"/>
              <a:t>Pre-Lab 3 (due 9/23, 3:30pm)</a:t>
            </a:r>
            <a:endParaRPr dirty="0"/>
          </a:p>
          <a:p>
            <a:pPr marL="914400" lvl="1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-"/>
            </a:pPr>
            <a:r>
              <a:rPr lang="en" dirty="0"/>
              <a:t>HW 1 (due 9/21, 11:59pm)</a:t>
            </a:r>
            <a:endParaRPr dirty="0"/>
          </a:p>
          <a:p>
            <a:pPr marL="914400" lvl="1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-"/>
            </a:pPr>
            <a:r>
              <a:rPr lang="en" dirty="0"/>
              <a:t>Lab 2 (report due 9/25, 11:59pm)</a:t>
            </a: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Lab 2 Overview</a:t>
            </a:r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Goal</a:t>
            </a:r>
            <a:r>
              <a:rPr lang="en"/>
              <a:t>: Use color thresholding on real-time video to track an orange ping-pong ball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/>
              <a:t>Sections</a:t>
            </a:r>
            <a:r>
              <a:rPr lang="en"/>
              <a:t>: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Pre-Lab: Understand RGB/HSV values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Video Capture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Color (Hue) Thresholding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Timing &amp; Reducing Latency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Ping-Pong Ball Localization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 Tips</a:t>
            </a:r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Download the entire LABS folder off canvas onto your RPi this lab. You’ll need a lot more downloads throughout the rest of the labs, it’s easier (and more organized) to just download it all now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lab is not written very well for each section. The code has each TO-DO labelled. Ctrl+F the code to find each section (3.1, 3.2, etc.) and implement your code based on that.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1 - Pre-Lab</a:t>
            </a:r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Refer to Matlab’s page on </a:t>
            </a:r>
            <a:r>
              <a:rPr lang="en" u="sng">
                <a:solidFill>
                  <a:schemeClr val="hlink"/>
                </a:solidFill>
                <a:hlinkClick r:id="rId3"/>
              </a:rPr>
              <a:t>Color Spaces &amp; Conversions</a:t>
            </a:r>
            <a:endParaRPr/>
          </a:p>
          <a:p>
            <a:pPr marL="914400" lvl="1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“</a:t>
            </a:r>
            <a:r>
              <a:rPr lang="en" b="1"/>
              <a:t>RGB</a:t>
            </a:r>
            <a:r>
              <a:rPr lang="en"/>
              <a:t>” - Red/Green/Blue color space</a:t>
            </a:r>
            <a:endParaRPr/>
          </a:p>
          <a:p>
            <a:pPr marL="914400" lvl="1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“</a:t>
            </a:r>
            <a:r>
              <a:rPr lang="en" b="1"/>
              <a:t>HSV</a:t>
            </a:r>
            <a:r>
              <a:rPr lang="en"/>
              <a:t>” - Hue/Saturation/Value color space</a:t>
            </a:r>
            <a:endParaRPr/>
          </a:p>
          <a:p>
            <a:pPr marL="457200" lvl="0" indent="-342900" algn="l" rtl="0">
              <a:spcBef>
                <a:spcPts val="1000"/>
              </a:spcBef>
              <a:spcAft>
                <a:spcPts val="1000"/>
              </a:spcAft>
              <a:buSzPts val="1800"/>
              <a:buChar char="-"/>
            </a:pPr>
            <a:r>
              <a:rPr lang="en"/>
              <a:t>To make histograms, use 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imhist</a:t>
            </a:r>
            <a:r>
              <a:rPr lang="en"/>
              <a:t> function in Matlab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2 - Video Capture</a:t>
            </a:r>
            <a:endParaRPr/>
          </a:p>
        </p:txBody>
      </p:sp>
      <p:sp>
        <p:nvSpPr>
          <p:cNvPr id="91" name="Google Shape;91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In general, if camera is “not working” (refusing to connect, display image, etc.)</a:t>
            </a:r>
            <a:endParaRPr/>
          </a:p>
          <a:p>
            <a:pPr marL="914400" lvl="1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(1) Unplug &amp; plug the camera back in</a:t>
            </a:r>
            <a:endParaRPr/>
          </a:p>
          <a:p>
            <a:pPr marL="914400" lvl="1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(2) Restart the RPi</a:t>
            </a:r>
            <a:endParaRPr/>
          </a:p>
          <a:p>
            <a:pPr marL="914400" lvl="1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(3) After three attempts, ask IA/GSI for help (may be hardware issue)</a:t>
            </a:r>
            <a:endParaRPr/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Hints:</a:t>
            </a:r>
            <a:endParaRPr/>
          </a:p>
          <a:p>
            <a:pPr marL="914400" lvl="1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-"/>
            </a:pPr>
            <a:r>
              <a:rPr lang="en" b="1"/>
              <a:t>Circular buffer</a:t>
            </a:r>
            <a:r>
              <a:rPr lang="en"/>
              <a:t>: fixed-size queue of data, with first-in-first-out (FIFO) data replacement</a:t>
            </a:r>
            <a:endParaRPr/>
          </a:p>
          <a:p>
            <a:pPr marL="914400" lvl="1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OpenCV uses BGR color space </a:t>
            </a:r>
            <a:endParaRPr/>
          </a:p>
          <a:p>
            <a:pPr marL="914400" lvl="1" indent="-317500" algn="l" rtl="0">
              <a:spcBef>
                <a:spcPts val="1000"/>
              </a:spcBef>
              <a:spcAft>
                <a:spcPts val="1000"/>
              </a:spcAft>
              <a:buSzPts val="1400"/>
              <a:buChar char="-"/>
            </a:pPr>
            <a:r>
              <a:rPr lang="en"/>
              <a:t>Use 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ord</a:t>
            </a:r>
            <a:r>
              <a:rPr lang="en"/>
              <a:t> function to get Unicode for particular keypress (e.g., 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ord(“c”)</a:t>
            </a:r>
            <a:r>
              <a:rPr lang="en"/>
              <a:t>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3 - Color Thresholding</a:t>
            </a:r>
            <a:endParaRPr/>
          </a:p>
        </p:txBody>
      </p:sp>
      <p:sp>
        <p:nvSpPr>
          <p:cNvPr id="97" name="Google Shape;97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Helpful tool to find H-value: </a:t>
            </a:r>
            <a:r>
              <a:rPr lang="en" u="sng">
                <a:solidFill>
                  <a:schemeClr val="hlink"/>
                </a:solidFill>
                <a:hlinkClick r:id="rId3"/>
              </a:rPr>
              <a:t>RGB to HSV converter</a:t>
            </a:r>
            <a:endParaRPr/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Hints:</a:t>
            </a:r>
            <a:endParaRPr/>
          </a:p>
          <a:p>
            <a:pPr marL="914400" lvl="1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In 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color_subtract</a:t>
            </a:r>
            <a:r>
              <a:rPr lang="en"/>
              <a:t>, pixel default values are 8-bit integers — this will cause overflow in your calculations! Use Numpy 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astype</a:t>
            </a:r>
            <a:r>
              <a:rPr lang="en"/>
              <a:t> (or 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dtype</a:t>
            </a:r>
            <a:r>
              <a:rPr lang="en"/>
              <a:t> parameter in 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asarray</a:t>
            </a:r>
            <a:r>
              <a:rPr lang="en"/>
              <a:t>) to upcast</a:t>
            </a:r>
            <a:endParaRPr/>
          </a:p>
          <a:p>
            <a:pPr marL="914400" lvl="1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In our binary image, we want the ping-pong ball to appear as </a:t>
            </a:r>
            <a:r>
              <a:rPr lang="en" i="1"/>
              <a:t>white</a:t>
            </a:r>
            <a:endParaRPr/>
          </a:p>
          <a:p>
            <a:pPr marL="914400" lvl="1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Access trackbar value with 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getTrackbarPos</a:t>
            </a:r>
            <a:r>
              <a:rPr lang="en"/>
              <a:t> function</a:t>
            </a:r>
            <a:endParaRPr/>
          </a:p>
          <a:p>
            <a:pPr marL="914400" lvl="1" indent="-317500" algn="l" rtl="0">
              <a:spcBef>
                <a:spcPts val="1000"/>
              </a:spcBef>
              <a:spcAft>
                <a:spcPts val="1000"/>
              </a:spcAft>
              <a:buSzPts val="1400"/>
              <a:buChar char="-"/>
            </a:pPr>
            <a:r>
              <a:rPr lang="en"/>
              <a:t>You don’t need to use the 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ret</a:t>
            </a:r>
            <a:r>
              <a:rPr lang="en"/>
              <a:t> value from OpenCV’s </a:t>
            </a:r>
            <a:br>
              <a:rPr lang="en"/>
            </a:br>
            <a:r>
              <a:rPr lang="en"/>
              <a:t>threshold function!</a:t>
            </a:r>
            <a:endParaRPr/>
          </a:p>
        </p:txBody>
      </p:sp>
      <p:pic>
        <p:nvPicPr>
          <p:cNvPr id="98" name="Google Shape;98;p20"/>
          <p:cNvPicPr preferRelativeResize="0"/>
          <p:nvPr/>
        </p:nvPicPr>
        <p:blipFill rotWithShape="1">
          <a:blip r:embed="rId4">
            <a:alphaModFix/>
          </a:blip>
          <a:srcRect l="5441" r="5360" b="8433"/>
          <a:stretch/>
        </p:blipFill>
        <p:spPr>
          <a:xfrm>
            <a:off x="5673325" y="3442350"/>
            <a:ext cx="3300850" cy="154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4 - Timing</a:t>
            </a:r>
            <a:endParaRPr/>
          </a:p>
        </p:txBody>
      </p:sp>
      <p:sp>
        <p:nvSpPr>
          <p:cNvPr id="104" name="Google Shape;104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Use 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Timer</a:t>
            </a:r>
            <a:r>
              <a:rPr lang="en"/>
              <a:t> class provided in code outline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5 - Ball Localization</a:t>
            </a:r>
            <a:endParaRPr/>
          </a:p>
        </p:txBody>
      </p:sp>
      <p:sp>
        <p:nvSpPr>
          <p:cNvPr id="110" name="Google Shape;110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Method 1: </a:t>
            </a:r>
            <a:r>
              <a:rPr lang="en" b="1"/>
              <a:t>Arithmetic/Heuristic</a:t>
            </a:r>
            <a:endParaRPr/>
          </a:p>
          <a:p>
            <a:pPr marL="914400" lvl="1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Assumption: all white pixels in the binary image belong to the ball</a:t>
            </a:r>
            <a:endParaRPr/>
          </a:p>
          <a:p>
            <a:pPr marL="914400" lvl="1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Therefore, the centroid of all white pixels will be the center of the ball</a:t>
            </a:r>
            <a:endParaRPr/>
          </a:p>
          <a:p>
            <a:pPr marL="1371600" lvl="2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I.e., arithmetic mean of the </a:t>
            </a:r>
            <a:r>
              <a:rPr lang="en" i="1"/>
              <a:t>x</a:t>
            </a:r>
            <a:r>
              <a:rPr lang="en"/>
              <a:t> and </a:t>
            </a:r>
            <a:r>
              <a:rPr lang="en" i="1"/>
              <a:t>y</a:t>
            </a:r>
            <a:r>
              <a:rPr lang="en"/>
              <a:t> values of all pixels</a:t>
            </a:r>
            <a:endParaRPr/>
          </a:p>
          <a:p>
            <a:pPr marL="914400" lvl="1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Total number of white pixels is area of ball (recall: A = πr</a:t>
            </a:r>
            <a:r>
              <a:rPr lang="en" baseline="30000"/>
              <a:t>2</a:t>
            </a:r>
            <a:r>
              <a:rPr lang="en"/>
              <a:t>)</a:t>
            </a:r>
            <a:endParaRPr/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Method 2: </a:t>
            </a:r>
            <a:r>
              <a:rPr lang="en" b="1"/>
              <a:t>Index Image</a:t>
            </a:r>
            <a:endParaRPr/>
          </a:p>
          <a:p>
            <a:pPr marL="914400" lvl="1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Linear algebra implementation of arithmetic approach (less intuitive)</a:t>
            </a:r>
            <a:endParaRPr/>
          </a:p>
          <a:p>
            <a:pPr marL="914400" lvl="1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Using Numpy functions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lvl="1" indent="-317500" algn="l" rtl="0">
              <a:spcBef>
                <a:spcPts val="1000"/>
              </a:spcBef>
              <a:spcAft>
                <a:spcPts val="1000"/>
              </a:spcAft>
              <a:buSzPts val="1400"/>
              <a:buChar char="-"/>
            </a:pPr>
            <a:r>
              <a:rPr lang="en"/>
              <a:t>Hint: we can think of 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x_idx</a:t>
            </a:r>
            <a:r>
              <a:rPr lang="en"/>
              <a:t> and 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y_idx</a:t>
            </a:r>
            <a:r>
              <a:rPr lang="en"/>
              <a:t> as masks for the </a:t>
            </a:r>
            <a:r>
              <a:rPr lang="en" i="1"/>
              <a:t>x</a:t>
            </a:r>
            <a:r>
              <a:rPr lang="en"/>
              <a:t> and </a:t>
            </a:r>
            <a:r>
              <a:rPr lang="en" i="1"/>
              <a:t>y</a:t>
            </a:r>
            <a:r>
              <a:rPr lang="en"/>
              <a:t> components of white pixels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523</Words>
  <Application>Microsoft Macintosh PowerPoint</Application>
  <PresentationFormat>On-screen Show (16:9)</PresentationFormat>
  <Paragraphs>54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Courier New</vt:lpstr>
      <vt:lpstr>Times New Roman</vt:lpstr>
      <vt:lpstr>Simple Light</vt:lpstr>
      <vt:lpstr>EECS 452</vt:lpstr>
      <vt:lpstr>This Week in EECS 452</vt:lpstr>
      <vt:lpstr>Lab 2 Overview</vt:lpstr>
      <vt:lpstr>General Tips</vt:lpstr>
      <vt:lpstr>1 - Pre-Lab</vt:lpstr>
      <vt:lpstr>2 - Video Capture</vt:lpstr>
      <vt:lpstr>3 - Color Thresholding</vt:lpstr>
      <vt:lpstr>4 - Timing</vt:lpstr>
      <vt:lpstr>5 - Ball Localization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Wang, Jennifer</cp:lastModifiedBy>
  <cp:revision>1</cp:revision>
  <dcterms:modified xsi:type="dcterms:W3CDTF">2026-09-16T00:34:04Z</dcterms:modified>
</cp:coreProperties>
</file>